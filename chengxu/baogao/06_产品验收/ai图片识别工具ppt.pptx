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44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开场约1分钟：项目名称、核心目标和答辩结构。强调本PPT将穿插功能演示，重点展示我们如何把模型脚本工程化为可验收的桌面工具。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约1分钟：说明节奏和演示安排。告诉老师中间会预留现场操作，所以PPT会保持清楚而不堆字。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约1.5分钟：这里要把项目的工程价值讲清楚。不要夸大模型原创性，重点强调从脚本到工具的转化。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约1.5分钟：介绍项目做了什么，强调轻量、离线、可演示。可提到配置文件中统一了模型路径、标签路径、均值方差、输入尺寸和阈值。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约2分钟：按代码文件讲架构。强调组长在qianduan.py中完成主要接口联调和验收流程收口，使各成员的模块真正形成可交互软件。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约1.5分钟：解释每个技术背后的原因。强调项目是轻量但完整的桌面AI应用栈。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约1分钟：功能总览。接着进入演示环节。强调多数功能最终通过前端整合让用户看得见、用得起来。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约1.5分钟：说明图像要转成1×3×224×224的float32张量。模型输出通过Softmax转概率，取最高类别，低置信度显示未知类别。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本页约30秒，然后进行现场演示5分钟。演示顺序一定要事先彩排。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约1.5分钟：讲界面和数据库。前端看似简单，但承担文件选择、图片预览、按钮事件、状态更新、结果展示、历史表刷新与查询等多个职责。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约2分钟：自然强调组长贡献。表达为“统筹、集成、收口、交付”，避免说其他成员没做事。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约2分钟：展示分工。重点突出刘泽涛负责前端、接口、数据库、批量流程和最终交付。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约1分钟：展示代码文件和职责。强调不是拼凑，而是按配置、处理、推理、队列、界面、标签做了分层。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约1.5分钟：总结完成情况。强调代码、材料和演示流程完整。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约1.5分钟：不足要客观，展望要具体。避免说项目完美，而是表现出清楚下一步优化方向。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结尾约30秒：感谢老师和同学。准备回答常见问题。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>
                <a:alpha val="0"/>
              </a:srgbClr>
            </a:solidFill>
            <a:prstDash val="solid"/>
          </a:ln>
        </p:spPr>
      </p:sp>
      <p:pic>
        <p:nvPicPr>
          <p:cNvPr id="3" name="Image 0" descr="/mnt/data/非洲草原与未来科技交汇.png"/>
          <p:cNvPicPr>
            <a:picLocks noChangeAspect="1"/>
          </p:cNvPicPr>
          <p:nvPr/>
        </p:nvPicPr>
        <p:blipFill>
          <a:blip r:embed="rId3"/>
          <a:srcRect l="22111" r="22111"/>
          <a:stretch>
            <a:fillRect/>
          </a:stretch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" y="658368"/>
            <a:ext cx="73152" cy="5394960"/>
          </a:xfrm>
          <a:prstGeom prst="rect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676656"/>
            <a:ext cx="21945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8D2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PROJECT DEFENSE · 20 MIN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" y="1417320"/>
            <a:ext cx="4251960" cy="6583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AI图片识别工具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77824" y="2240280"/>
            <a:ext cx="411480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6E1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ONNX Runtime 的本地图像分类与批量识别系统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77824" y="2761488"/>
            <a:ext cx="3200400" cy="0"/>
          </a:xfrm>
          <a:prstGeom prst="line">
            <a:avLst/>
          </a:prstGeom>
          <a:noFill/>
          <a:ln w="16510">
            <a:solidFill>
              <a:srgbClr val="74A7A0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3090672"/>
            <a:ext cx="32004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项目负责人 / 组长：刘泽涛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7824" y="3456432"/>
            <a:ext cx="406908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8D2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负责前端界面 · 接口联调 · 模块整合 · 验收交付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7824" y="5870448"/>
            <a:ext cx="406908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A7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从“能跑的模型”到“能交付的工具”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92808" y="832104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4672" y="1444752"/>
            <a:ext cx="502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417320" y="1581912"/>
            <a:ext cx="548640" cy="0"/>
          </a:xfrm>
          <a:prstGeom prst="line">
            <a:avLst/>
          </a:prstGeom>
          <a:noFill/>
          <a:ln w="13970">
            <a:solidFill>
              <a:srgbClr val="2D5B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1399032"/>
            <a:ext cx="201168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项目介绍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0" y="1435608"/>
            <a:ext cx="4389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 / 架构 / 技术选型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921240" y="137160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2D5B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94392" y="1435608"/>
            <a:ext cx="95097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讲解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" y="2569464"/>
            <a:ext cx="502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4A7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417320" y="2706624"/>
            <a:ext cx="548640" cy="0"/>
          </a:xfrm>
          <a:prstGeom prst="line">
            <a:avLst/>
          </a:prstGeom>
          <a:noFill/>
          <a:ln w="13970">
            <a:solidFill>
              <a:srgbClr val="74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2523744"/>
            <a:ext cx="201168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功能介绍和演示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0" y="2560320"/>
            <a:ext cx="4389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单图识别 / 批量识别 / 历史查询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921240" y="249631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74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94392" y="2560320"/>
            <a:ext cx="95097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4A7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含现场展示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" y="3694176"/>
            <a:ext cx="502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9B5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417320" y="3831336"/>
            <a:ext cx="548640" cy="0"/>
          </a:xfrm>
          <a:prstGeom prst="line">
            <a:avLst/>
          </a:prstGeom>
          <a:noFill/>
          <a:ln w="13970">
            <a:solidFill>
              <a:srgbClr val="C89B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3648456"/>
            <a:ext cx="201168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团队人员分工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572000" y="3685032"/>
            <a:ext cx="4389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组长统筹整合 / 成员模块贡献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921240" y="3621024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C89B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94392" y="3685032"/>
            <a:ext cx="95097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9B5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讲解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4672" y="4818888"/>
            <a:ext cx="502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A0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1417320" y="4956048"/>
            <a:ext cx="548640" cy="0"/>
          </a:xfrm>
          <a:prstGeom prst="line">
            <a:avLst/>
          </a:prstGeom>
          <a:noFill/>
          <a:ln w="13970">
            <a:solidFill>
              <a:srgbClr val="8AA0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4773168"/>
            <a:ext cx="201168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项目总结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572000" y="4809744"/>
            <a:ext cx="4389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收获 / 不足 / 展望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9921240" y="4745736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A0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94392" y="4809744"/>
            <a:ext cx="95097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A0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讲解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2960" y="5623560"/>
            <a:ext cx="73152" cy="502920"/>
          </a:xfrm>
          <a:prstGeom prst="rect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5641848"/>
            <a:ext cx="964692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我们项目的一句话功能流程总结</a:t>
            </a:r>
            <a:r>
              <a:rPr 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:   </a:t>
            </a:r>
            <a:r>
              <a:rPr lang="en-US" sz="1620" b="1" dirty="0" err="1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导入</a:t>
            </a:r>
            <a:r>
              <a:rPr 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预处理 → 推理 → 保存 → 查询。</a:t>
            </a:r>
            <a:endParaRPr lang="en-US" sz="16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项目背景：模型代码离“可用工具”还有一段距离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41248" y="1371600"/>
            <a:ext cx="14630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常见问题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8680" y="1874520"/>
            <a:ext cx="4663440" cy="21488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模型脚本依赖命令行，普通用户无法快速上手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演示只做单图识别，批量图片缺少任务管理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结果没有保存，答辩与验收时无法回放复查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各成员代码容易割裂，最终联调风险高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1371600"/>
            <a:ext cx="19202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我们的解决方式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73952" y="1874520"/>
            <a:ext cx="4572000" cy="21488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用桌面GUI把操作流程显性化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用队列支持多图批量识别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用SQLite记录类别、置信度、时间和路径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由组长统一整合接口，降低交付不确定性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61888" y="1325880"/>
            <a:ext cx="0" cy="3566160"/>
          </a:xfrm>
          <a:prstGeom prst="line">
            <a:avLst/>
          </a:prstGeom>
          <a:noFill/>
          <a:ln w="15240">
            <a:solidFill>
              <a:srgbClr val="D5D0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5102352"/>
            <a:ext cx="73152" cy="676656"/>
          </a:xfrm>
          <a:prstGeom prst="rect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5120640"/>
            <a:ext cx="9738360" cy="6766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项目定位：轻量级、本地运行、可演示、可验收、可继续扩展的AI图片识别工具。</a:t>
            </a:r>
            <a:endParaRPr lang="en-US" sz="16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" y="-41148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项目介绍：AI图片识别工具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804672" y="1325880"/>
            <a:ext cx="3794760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1325880"/>
            <a:ext cx="82296" cy="4297680"/>
          </a:xfrm>
          <a:prstGeom prst="rect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1600200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100" b="1" dirty="0"/>
              <a:t>项目功能</a:t>
            </a:r>
            <a:endParaRPr lang="en-US" sz="2100" b="1" dirty="0"/>
          </a:p>
        </p:txBody>
      </p:sp>
      <p:sp>
        <p:nvSpPr>
          <p:cNvPr id="21" name="Text 19"/>
          <p:cNvSpPr/>
          <p:nvPr/>
        </p:nvSpPr>
        <p:spPr>
          <a:xfrm>
            <a:off x="1051561" y="2002536"/>
            <a:ext cx="3474722" cy="3434769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 JPG / PNG / BMP </a:t>
            </a:r>
            <a:r>
              <a:rPr lang="en-US" sz="2000" dirty="0" err="1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等常见图片导入</a:t>
            </a:r>
            <a:endParaRPr lang="en-US" sz="2000" dirty="0">
              <a:solidFill>
                <a:srgbClr val="1822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基于 MobileNetV2 ONNX </a:t>
            </a:r>
            <a:r>
              <a:rPr lang="en-US" sz="2000" dirty="0" err="1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模型在CPU端推理</a:t>
            </a:r>
            <a:endParaRPr lang="en-US" sz="2000" dirty="0">
              <a:solidFill>
                <a:srgbClr val="1822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2000" dirty="0" err="1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输出类别名称与置信度</a:t>
            </a:r>
            <a:endParaRPr lang="en-US" sz="2000" dirty="0">
              <a:solidFill>
                <a:srgbClr val="1822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2000" dirty="0" err="1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提供单张识别与批量识别两种路径</a:t>
            </a:r>
            <a:endParaRPr lang="en-US" sz="2000" dirty="0">
              <a:solidFill>
                <a:srgbClr val="1822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2000" dirty="0" err="1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将识别结果写入SQLite历史表</a:t>
            </a:r>
            <a:endParaRPr lang="en-US" sz="2000" dirty="0">
              <a:solidFill>
                <a:srgbClr val="1822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7800" y="1828800"/>
            <a:ext cx="155448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D5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1000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5257800" y="2423160"/>
            <a:ext cx="15544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ImageNet 标签类别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223759" y="1828800"/>
            <a:ext cx="1674763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74A7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224×224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7205473" y="2423160"/>
            <a:ext cx="15544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模型输入尺寸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9189720" y="1828800"/>
            <a:ext cx="155448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C89B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0.5</a:t>
            </a:r>
            <a:endParaRPr lang="en-US" sz="2900" dirty="0"/>
          </a:p>
        </p:txBody>
      </p:sp>
      <p:sp>
        <p:nvSpPr>
          <p:cNvPr id="27" name="Text 25"/>
          <p:cNvSpPr/>
          <p:nvPr/>
        </p:nvSpPr>
        <p:spPr>
          <a:xfrm>
            <a:off x="9189720" y="2423160"/>
            <a:ext cx="15544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置信度阈值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440681" y="4056500"/>
            <a:ext cx="5120640" cy="621853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5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项目价值：演示流程清晰，功能闭环完整，代码结构可继续迭代。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软件架构：五层模块化闭环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14400" y="1325880"/>
            <a:ext cx="9966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1325880"/>
            <a:ext cx="82296" cy="566928"/>
          </a:xfrm>
          <a:prstGeom prst="rect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1472184"/>
            <a:ext cx="12344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D5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界面层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2697480" y="1444752"/>
            <a:ext cx="17373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8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qianduan.py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4663440" y="1453896"/>
            <a:ext cx="57607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文件选择 / 预览 / 识别按钮 / 历史表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914400" y="2167128"/>
            <a:ext cx="9966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2167128"/>
            <a:ext cx="82296" cy="566928"/>
          </a:xfrm>
          <a:prstGeom prst="rect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2313432"/>
            <a:ext cx="12344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74A7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任务层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2697480" y="2286000"/>
            <a:ext cx="17373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8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queue_image.py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4663440" y="2295144"/>
            <a:ext cx="57607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FIFO队列支撑批量导入和逐张处理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914400" y="3008376"/>
            <a:ext cx="9966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008376"/>
            <a:ext cx="82296" cy="566928"/>
          </a:xfrm>
          <a:prstGeom prst="rect">
            <a:avLst/>
          </a:prstGeom>
          <a:solidFill>
            <a:srgbClr val="8AA06E"/>
          </a:solidFill>
          <a:ln w="12700">
            <a:solidFill>
              <a:srgbClr val="8AA0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3154680"/>
            <a:ext cx="12344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8AA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预处理层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2697480" y="3127248"/>
            <a:ext cx="17373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8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im.py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4663440" y="3136392"/>
            <a:ext cx="57607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读取、RGB转换、缩放、归一化、NCHW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914400" y="3849624"/>
            <a:ext cx="9966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3849624"/>
            <a:ext cx="82296" cy="566928"/>
          </a:xfrm>
          <a:prstGeom prst="rect">
            <a:avLst/>
          </a:prstGeom>
          <a:solidFill>
            <a:srgbClr val="C89B54"/>
          </a:solidFill>
          <a:ln w="12700">
            <a:solidFill>
              <a:srgbClr val="C89B5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0432" y="3995928"/>
            <a:ext cx="12344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C89B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推理层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2697480" y="3968496"/>
            <a:ext cx="17373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8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onnx_infer.py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4663440" y="3977640"/>
            <a:ext cx="57607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ONNX会话、Softmax、标签映射、阈值判断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914400" y="4690872"/>
            <a:ext cx="9966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4690872"/>
            <a:ext cx="82296" cy="566928"/>
          </a:xfrm>
          <a:prstGeom prst="rect">
            <a:avLst/>
          </a:prstGeom>
          <a:solidFill>
            <a:srgbClr val="193B52"/>
          </a:solidFill>
          <a:ln w="12700">
            <a:solidFill>
              <a:srgbClr val="193B5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70432" y="4837176"/>
            <a:ext cx="12344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93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 / 数据层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2697480" y="4809744"/>
            <a:ext cx="17373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8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config.py + SQLite</a:t>
            </a:r>
            <a:endParaRPr lang="en-US" sz="1240" dirty="0"/>
          </a:p>
        </p:txBody>
      </p:sp>
      <p:sp>
        <p:nvSpPr>
          <p:cNvPr id="42" name="Text 40"/>
          <p:cNvSpPr/>
          <p:nvPr/>
        </p:nvSpPr>
        <p:spPr>
          <a:xfrm>
            <a:off x="4663440" y="4818888"/>
            <a:ext cx="57607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模型路径、标签库、阈值、历史记录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5879592" y="987552"/>
            <a:ext cx="0" cy="4892040"/>
          </a:xfrm>
          <a:prstGeom prst="line">
            <a:avLst/>
          </a:prstGeom>
          <a:noFill/>
          <a:ln w="13970">
            <a:solidFill>
              <a:srgbClr val="2D5B73">
                <a:alpha val="6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806440"/>
            <a:ext cx="77724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数据流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664208" y="5779008"/>
            <a:ext cx="90982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选择图片 → 图片预览 → 预处理张量 → ONNX推理 → 输出类别/置信度 → 写入历史表 → 查询展示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开发技术：轻量,完整的AI应用栈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868680" y="1325880"/>
            <a:ext cx="48006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325880"/>
            <a:ext cx="73152" cy="960120"/>
          </a:xfrm>
          <a:prstGeom prst="rect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1490472"/>
            <a:ext cx="169164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926080" y="1508760"/>
            <a:ext cx="24688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D5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统一开发语言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1124712" y="1856232"/>
            <a:ext cx="42062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负责界面、图像处理、模型推理与数据管理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355080" y="1325880"/>
            <a:ext cx="48006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325880"/>
            <a:ext cx="73152" cy="960120"/>
          </a:xfrm>
          <a:prstGeom prst="rect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1490472"/>
            <a:ext cx="169164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Tkinter + PIL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12480" y="1508760"/>
            <a:ext cx="24688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74A7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桌面GUI与图片预览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6611112" y="1856232"/>
            <a:ext cx="42062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按钮事件、状态栏、结果区和表格刷新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868680" y="2743200"/>
            <a:ext cx="48006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2743200"/>
            <a:ext cx="73152" cy="960120"/>
          </a:xfrm>
          <a:prstGeom prst="rect">
            <a:avLst/>
          </a:prstGeom>
          <a:solidFill>
            <a:srgbClr val="8AA06E"/>
          </a:solidFill>
          <a:ln w="12700">
            <a:solidFill>
              <a:srgbClr val="8AA0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1" y="2880360"/>
            <a:ext cx="201339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OpenCV + NumPy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000948" y="2926080"/>
            <a:ext cx="24688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8AA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图像预处理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1124712" y="3273552"/>
            <a:ext cx="42062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BGR/RGB、Resize、归一化、标准化、张量转换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6355080" y="2743200"/>
            <a:ext cx="48006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2743200"/>
            <a:ext cx="73152" cy="960120"/>
          </a:xfrm>
          <a:prstGeom prst="rect">
            <a:avLst/>
          </a:prstGeom>
          <a:solidFill>
            <a:srgbClr val="C89B54"/>
          </a:solidFill>
          <a:ln w="12700">
            <a:solidFill>
              <a:srgbClr val="C89B5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1112" y="2907792"/>
            <a:ext cx="169164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ONNX Runtime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412480" y="2926080"/>
            <a:ext cx="24688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C89B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本地模型推理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6611112" y="3273552"/>
            <a:ext cx="42062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加载MobileNetV2 ONNX模型，CPU端运行</a:t>
            </a:r>
            <a:endParaRPr lang="en-US" sz="1140" dirty="0"/>
          </a:p>
        </p:txBody>
      </p:sp>
      <p:sp>
        <p:nvSpPr>
          <p:cNvPr id="38" name="Shape 36"/>
          <p:cNvSpPr/>
          <p:nvPr/>
        </p:nvSpPr>
        <p:spPr>
          <a:xfrm>
            <a:off x="868680" y="4160520"/>
            <a:ext cx="48006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4160520"/>
            <a:ext cx="73152" cy="960120"/>
          </a:xfrm>
          <a:prstGeom prst="rect">
            <a:avLst/>
          </a:prstGeom>
          <a:solidFill>
            <a:srgbClr val="193B52"/>
          </a:solidFill>
          <a:ln w="12700">
            <a:solidFill>
              <a:srgbClr val="193B5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24712" y="4325112"/>
            <a:ext cx="169164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2926080" y="4343400"/>
            <a:ext cx="24688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93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数据持久化</a:t>
            </a: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1124712" y="4690872"/>
            <a:ext cx="42062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保存识别时间、文件名、类别、置信度和路径</a:t>
            </a:r>
            <a:endParaRPr lang="en-US" sz="1140" dirty="0"/>
          </a:p>
        </p:txBody>
      </p:sp>
      <p:sp>
        <p:nvSpPr>
          <p:cNvPr id="43" name="Shape 41"/>
          <p:cNvSpPr/>
          <p:nvPr/>
        </p:nvSpPr>
        <p:spPr>
          <a:xfrm>
            <a:off x="6355080" y="4160520"/>
            <a:ext cx="48006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4160520"/>
            <a:ext cx="73152" cy="960120"/>
          </a:xfrm>
          <a:prstGeom prst="rect">
            <a:avLst/>
          </a:prstGeom>
          <a:solidFill>
            <a:srgbClr val="A64B3C"/>
          </a:solidFill>
          <a:ln w="12700">
            <a:solidFill>
              <a:srgbClr val="A64B3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11112" y="4325112"/>
            <a:ext cx="169164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Config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412480" y="4343400"/>
            <a:ext cx="24688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A64B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工程配置</a:t>
            </a:r>
            <a:endParaRPr lang="en-US" sz="1130" dirty="0"/>
          </a:p>
        </p:txBody>
      </p:sp>
      <p:sp>
        <p:nvSpPr>
          <p:cNvPr id="47" name="Text 45"/>
          <p:cNvSpPr/>
          <p:nvPr/>
        </p:nvSpPr>
        <p:spPr>
          <a:xfrm>
            <a:off x="6611112" y="4690872"/>
            <a:ext cx="42062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统一模型路径、标签路径、阈值和输入尺寸</a:t>
            </a:r>
            <a:endParaRPr lang="en-US" sz="1140" dirty="0"/>
          </a:p>
        </p:txBody>
      </p:sp>
      <p:sp>
        <p:nvSpPr>
          <p:cNvPr id="48" name="Shape 46"/>
          <p:cNvSpPr/>
          <p:nvPr/>
        </p:nvSpPr>
        <p:spPr>
          <a:xfrm>
            <a:off x="868680" y="5806440"/>
            <a:ext cx="73152" cy="420624"/>
          </a:xfrm>
          <a:prstGeom prst="rect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" y="5824728"/>
            <a:ext cx="9555480" cy="42062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我们的项目虽然很轻但是已经足够完整而且可以拓展</a:t>
            </a:r>
            <a:endParaRPr lang="en-US" sz="16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功能介绍：围绕“能演示、能复查”设计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0120" y="1399032"/>
            <a:ext cx="38404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1371600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单张识别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246120" y="1399032"/>
            <a:ext cx="65836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选择图片后预览，点击开始识别，输出类别和置信度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960120" y="1901952"/>
            <a:ext cx="9921240" cy="0"/>
          </a:xfrm>
          <a:prstGeom prst="line">
            <a:avLst/>
          </a:prstGeom>
          <a:noFill/>
          <a:ln w="10160">
            <a:solidFill>
              <a:srgbClr val="D5D0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203704"/>
            <a:ext cx="38404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A7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2176272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批量识别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246120" y="2203704"/>
            <a:ext cx="65836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多选图片入队，按FIFO顺序自动逐张处理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960120" y="2706624"/>
            <a:ext cx="9921240" cy="0"/>
          </a:xfrm>
          <a:prstGeom prst="line">
            <a:avLst/>
          </a:prstGeom>
          <a:noFill/>
          <a:ln w="10160">
            <a:solidFill>
              <a:srgbClr val="D5D0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008376"/>
            <a:ext cx="38404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AA0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8760" y="2980944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历史记录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246120" y="3008376"/>
            <a:ext cx="65836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记录时间、文件名、类别、置信度和图片路径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960120" y="3511296"/>
            <a:ext cx="9921240" cy="0"/>
          </a:xfrm>
          <a:prstGeom prst="line">
            <a:avLst/>
          </a:prstGeom>
          <a:noFill/>
          <a:ln w="10160">
            <a:solidFill>
              <a:srgbClr val="D5D0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3813048"/>
            <a:ext cx="38404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89B5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08760" y="3785616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结果查询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246120" y="3813048"/>
            <a:ext cx="65836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按图片名或识别类别关键字筛选历史表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960120" y="4315968"/>
            <a:ext cx="9921240" cy="0"/>
          </a:xfrm>
          <a:prstGeom prst="line">
            <a:avLst/>
          </a:prstGeom>
          <a:noFill/>
          <a:ln w="10160">
            <a:solidFill>
              <a:srgbClr val="D5D0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617720"/>
            <a:ext cx="38404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3B5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08760" y="4590288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状态反馈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3246120" y="4617720"/>
            <a:ext cx="65836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展示当前任务、剩余数量、识别状态，降低演示不确定性</a:t>
            </a:r>
            <a:endParaRPr lang="en-US" sz="1280" dirty="0"/>
          </a:p>
        </p:txBody>
      </p:sp>
      <p:sp>
        <p:nvSpPr>
          <p:cNvPr id="37" name="Shape 35"/>
          <p:cNvSpPr/>
          <p:nvPr/>
        </p:nvSpPr>
        <p:spPr>
          <a:xfrm>
            <a:off x="960120" y="5120640"/>
            <a:ext cx="9921240" cy="0"/>
          </a:xfrm>
          <a:prstGeom prst="line">
            <a:avLst/>
          </a:prstGeom>
          <a:noFill/>
          <a:ln w="10160">
            <a:solidFill>
              <a:srgbClr val="D5D0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0120" y="5806440"/>
            <a:ext cx="73152" cy="420624"/>
          </a:xfrm>
          <a:prstGeom prst="rect">
            <a:avLst/>
          </a:prstGeom>
          <a:solidFill>
            <a:srgbClr val="C89B54"/>
          </a:solidFill>
          <a:ln w="12700">
            <a:solidFill>
              <a:srgbClr val="C89B5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5824728"/>
            <a:ext cx="9646920" cy="42062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 err="1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按钮事件、图像预览、推理调用、数据保存、表格刷新</a:t>
            </a:r>
            <a:endParaRPr lang="en-US" sz="16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识别流程：从一张图片到分类结果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892808" y="832104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关键链路：image_process → engine.predict → save_result。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1508760"/>
            <a:ext cx="420624" cy="420624"/>
          </a:xfrm>
          <a:prstGeom prst="ellipse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1591056"/>
            <a:ext cx="420624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81328" y="1490472"/>
            <a:ext cx="1261872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读取图片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81328" y="1783080"/>
            <a:ext cx="1261872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cv2.imread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支持常见格式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423160" y="1728216"/>
            <a:ext cx="429768" cy="0"/>
          </a:xfrm>
          <a:prstGeom prst="line">
            <a:avLst/>
          </a:prstGeom>
          <a:noFill/>
          <a:ln w="16510">
            <a:solidFill>
              <a:srgbClr val="D5D0C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27248" y="1508760"/>
            <a:ext cx="420624" cy="420624"/>
          </a:xfrm>
          <a:prstGeom prst="ellipse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1591056"/>
            <a:ext cx="420624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94176" y="1490472"/>
            <a:ext cx="1261872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预处理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94176" y="1783080"/>
            <a:ext cx="1261872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RGB转换 / 224×224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归一化与标准化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636008" y="1728216"/>
            <a:ext cx="429768" cy="0"/>
          </a:xfrm>
          <a:prstGeom prst="line">
            <a:avLst/>
          </a:prstGeom>
          <a:noFill/>
          <a:ln w="16510">
            <a:solidFill>
              <a:srgbClr val="D5D0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340096" y="1508760"/>
            <a:ext cx="420624" cy="420624"/>
          </a:xfrm>
          <a:prstGeom prst="ellipse">
            <a:avLst/>
          </a:prstGeom>
          <a:solidFill>
            <a:srgbClr val="8AA06E"/>
          </a:solidFill>
          <a:ln w="12700">
            <a:solidFill>
              <a:srgbClr val="8AA06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0096" y="1591056"/>
            <a:ext cx="420624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07024" y="1490472"/>
            <a:ext cx="1261872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张量转换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07024" y="1783080"/>
            <a:ext cx="1261872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HWC → CHW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 batch 维度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848856" y="1728216"/>
            <a:ext cx="429768" cy="0"/>
          </a:xfrm>
          <a:prstGeom prst="line">
            <a:avLst/>
          </a:prstGeom>
          <a:noFill/>
          <a:ln w="16510">
            <a:solidFill>
              <a:srgbClr val="D5D0C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552944" y="1508760"/>
            <a:ext cx="420624" cy="420624"/>
          </a:xfrm>
          <a:prstGeom prst="ellipse">
            <a:avLst/>
          </a:prstGeom>
          <a:solidFill>
            <a:srgbClr val="C89B54"/>
          </a:solidFill>
          <a:ln w="12700">
            <a:solidFill>
              <a:srgbClr val="C89B5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1591056"/>
            <a:ext cx="420624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19872" y="1490472"/>
            <a:ext cx="1261872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模型推理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19872" y="1783080"/>
            <a:ext cx="1261872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ONNX Runtime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logits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9061704" y="1728216"/>
            <a:ext cx="429768" cy="0"/>
          </a:xfrm>
          <a:prstGeom prst="line">
            <a:avLst/>
          </a:prstGeom>
          <a:noFill/>
          <a:ln w="16510">
            <a:solidFill>
              <a:srgbClr val="D5D0C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765792" y="1508760"/>
            <a:ext cx="420624" cy="420624"/>
          </a:xfrm>
          <a:prstGeom prst="ellipse">
            <a:avLst/>
          </a:prstGeom>
          <a:solidFill>
            <a:srgbClr val="193B52"/>
          </a:solidFill>
          <a:ln w="12700">
            <a:solidFill>
              <a:srgbClr val="193B5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65792" y="1591056"/>
            <a:ext cx="420624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332720" y="1490472"/>
            <a:ext cx="1261872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结果落库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332720" y="1783080"/>
            <a:ext cx="1261872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类别 + 置信度</a:t>
            </a:r>
            <a:endParaRPr lang="en-US" sz="1080" dirty="0"/>
          </a:p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SQLite历史记录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960120" y="3154680"/>
            <a:ext cx="4937760" cy="1444752"/>
          </a:xfrm>
          <a:prstGeom prst="rect">
            <a:avLst/>
          </a:prstGeom>
          <a:solidFill>
            <a:srgbClr val="13212C"/>
          </a:solidFill>
          <a:ln w="10160">
            <a:solidFill>
              <a:srgbClr val="13212C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4712" y="3319272"/>
            <a:ext cx="4608576" cy="11155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D8E3E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 = engine.predict(img_nchw)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8E3E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label = result["class_name"]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8E3E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confidence = result["confidence"]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8E3E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save_result(image_path, label, confidence)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37960" y="3154680"/>
            <a:ext cx="452628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3456432"/>
            <a:ext cx="118872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稳定性处理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6812280" y="3803904"/>
            <a:ext cx="3749040" cy="6766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模型文件不存在时主动报错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置信度低于阈值返回“未知类别”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识别异常时界面返回“识别失败”而不是直接崩溃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0120" y="5669280"/>
            <a:ext cx="73152" cy="438912"/>
          </a:xfrm>
          <a:prstGeom prst="rect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88720" y="5687568"/>
            <a:ext cx="964692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工程亮点：不仅完成推理，还考虑了输入、阈值、异常、落库和可复查。</a:t>
            </a:r>
            <a:endParaRPr lang="en-US" sz="16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65180" y="-207888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功能演示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14400" y="1325880"/>
            <a:ext cx="420624" cy="420624"/>
          </a:xfrm>
          <a:prstGeom prst="ellipse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1408176"/>
            <a:ext cx="420624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81328" y="1307592"/>
            <a:ext cx="5833872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打开程序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81328" y="1600200"/>
            <a:ext cx="5833872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展示主界面、按钮、图片预览区、历史表区域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14400" y="2194560"/>
            <a:ext cx="420624" cy="420624"/>
          </a:xfrm>
          <a:prstGeom prst="ellipse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276856"/>
            <a:ext cx="420624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81328" y="2176272"/>
            <a:ext cx="5833872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单张图片识别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81328" y="2468880"/>
            <a:ext cx="5833872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选择图片 → 预览 → 开始识别 → 查看类别与置信度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14400" y="3063240"/>
            <a:ext cx="420624" cy="420624"/>
          </a:xfrm>
          <a:prstGeom prst="ellipse">
            <a:avLst/>
          </a:prstGeom>
          <a:solidFill>
            <a:srgbClr val="8AA06E"/>
          </a:solidFill>
          <a:ln w="12700">
            <a:solidFill>
              <a:srgbClr val="8AA06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145536"/>
            <a:ext cx="420624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81328" y="3044952"/>
            <a:ext cx="5833872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批量图片识别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81328" y="3337560"/>
            <a:ext cx="5833872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批量导入 → 队列逐张处理 → 状态栏显示剩余数量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914400" y="3931920"/>
            <a:ext cx="420624" cy="420624"/>
          </a:xfrm>
          <a:prstGeom prst="ellipse">
            <a:avLst/>
          </a:prstGeom>
          <a:solidFill>
            <a:srgbClr val="C89B54"/>
          </a:solidFill>
          <a:ln w="12700">
            <a:solidFill>
              <a:srgbClr val="C89B5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014216"/>
            <a:ext cx="420624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481328" y="3913632"/>
            <a:ext cx="5833872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历史记录查询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81328" y="4206240"/>
            <a:ext cx="5833872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按类别或文件名查找，证明结果已写入数据库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914400" y="4800600"/>
            <a:ext cx="420624" cy="420624"/>
          </a:xfrm>
          <a:prstGeom prst="ellipse">
            <a:avLst/>
          </a:prstGeom>
          <a:solidFill>
            <a:srgbClr val="193B52"/>
          </a:solidFill>
          <a:ln w="12700">
            <a:solidFill>
              <a:srgbClr val="193B5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882896"/>
            <a:ext cx="420624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481328" y="4782312"/>
            <a:ext cx="5833872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异常与稳定性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81328" y="5074920"/>
            <a:ext cx="5833872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未选图时给出提示，说明容错意识</a:t>
            </a:r>
            <a:endParaRPr lang="en-US" sz="1080" dirty="0"/>
          </a:p>
        </p:txBody>
      </p:sp>
      <p:pic>
        <p:nvPicPr>
          <p:cNvPr id="17" name="图片 16" descr="屏幕截图 2026-07-14 1047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370" y="898525"/>
            <a:ext cx="6623685" cy="4749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界面与数据：把识别结果留得下来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868680" y="1234440"/>
            <a:ext cx="4754880" cy="434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1508760"/>
            <a:ext cx="201168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图片识别工具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3000" y="1920240"/>
            <a:ext cx="2057400" cy="1828800"/>
          </a:xfrm>
          <a:prstGeom prst="rect">
            <a:avLst/>
          </a:prstGeom>
          <a:solidFill>
            <a:srgbClr val="F1F4F4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19072" y="2724912"/>
            <a:ext cx="9144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图片预览区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56432" y="1920240"/>
            <a:ext cx="17830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011680"/>
            <a:ext cx="10058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5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选择图片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56432" y="2395728"/>
            <a:ext cx="17830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2487168"/>
            <a:ext cx="10058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5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开始识别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56432" y="2871216"/>
            <a:ext cx="17830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962656"/>
            <a:ext cx="10058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5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批量导入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4069080"/>
            <a:ext cx="384048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识别结果：golden_retriever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置信度：91.32%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状态：等待中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43000" y="4782312"/>
            <a:ext cx="4114800" cy="411480"/>
          </a:xfrm>
          <a:prstGeom prst="rect">
            <a:avLst/>
          </a:prstGeom>
          <a:solidFill>
            <a:srgbClr val="F7F7F4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4919472"/>
            <a:ext cx="374904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编号   时间       图片名      类别      置信度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446520" y="1234440"/>
            <a:ext cx="4251960" cy="434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1508760"/>
            <a:ext cx="320040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SQLite 表：recognition_history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8272" y="1965960"/>
            <a:ext cx="11887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21040" y="1965960"/>
            <a:ext cx="14173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主键编号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20840" y="2221992"/>
            <a:ext cx="3520440" cy="0"/>
          </a:xfrm>
          <a:prstGeom prst="line">
            <a:avLst/>
          </a:prstGeom>
          <a:noFill/>
          <a:ln w="6350">
            <a:solidFill>
              <a:srgbClr val="D5D0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2450592"/>
            <a:ext cx="11887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21040" y="2450592"/>
            <a:ext cx="14173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识别时间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20840" y="2706624"/>
            <a:ext cx="3520440" cy="0"/>
          </a:xfrm>
          <a:prstGeom prst="line">
            <a:avLst/>
          </a:prstGeom>
          <a:noFill/>
          <a:ln w="6350">
            <a:solidFill>
              <a:srgbClr val="D5D0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2935224"/>
            <a:ext cx="11887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file_name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321040" y="2935224"/>
            <a:ext cx="14173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图片文件名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720840" y="3191256"/>
            <a:ext cx="3520440" cy="0"/>
          </a:xfrm>
          <a:prstGeom prst="line">
            <a:avLst/>
          </a:prstGeom>
          <a:noFill/>
          <a:ln w="6350">
            <a:solidFill>
              <a:srgbClr val="D5D0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3419856"/>
            <a:ext cx="11887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class_name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21040" y="3419856"/>
            <a:ext cx="14173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识别类别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20840" y="3675888"/>
            <a:ext cx="3520440" cy="0"/>
          </a:xfrm>
          <a:prstGeom prst="line">
            <a:avLst/>
          </a:prstGeom>
          <a:noFill/>
          <a:ln w="6350">
            <a:solidFill>
              <a:srgbClr val="D5D0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3904488"/>
            <a:ext cx="11887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321040" y="3904488"/>
            <a:ext cx="14173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置信度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20840" y="4160520"/>
            <a:ext cx="3520440" cy="0"/>
          </a:xfrm>
          <a:prstGeom prst="line">
            <a:avLst/>
          </a:prstGeom>
          <a:noFill/>
          <a:ln w="6350">
            <a:solidFill>
              <a:srgbClr val="D5D0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4389120"/>
            <a:ext cx="11887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image_path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21040" y="4389120"/>
            <a:ext cx="14173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原始路径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720840" y="4645152"/>
            <a:ext cx="3520440" cy="0"/>
          </a:xfrm>
          <a:prstGeom prst="line">
            <a:avLst/>
          </a:prstGeom>
          <a:noFill/>
          <a:ln w="6350">
            <a:solidFill>
              <a:srgbClr val="D5D0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6112" y="5833872"/>
            <a:ext cx="73152" cy="411480"/>
          </a:xfrm>
          <a:prstGeom prst="rect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4712" y="5852160"/>
            <a:ext cx="964692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演示完成后，历史表可以证明识别结果真实保存，便于复盘与验收检查。</a:t>
            </a:r>
            <a:endParaRPr lang="en-US" sz="16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团队分工：组长承担统筹、集成与交付的关键角色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868680" y="1261872"/>
            <a:ext cx="489204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261872"/>
            <a:ext cx="91440" cy="4526280"/>
          </a:xfrm>
          <a:prstGeom prst="rect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288" y="1572768"/>
            <a:ext cx="310896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刘泽涛｜项目组长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70432" y="2148840"/>
            <a:ext cx="4160520" cy="23317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前端主界面：图片选择、预览、识别按钮、批量按钮、结果区、历史表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接口联调：将 image_process 与 engine.predict 接入GUI流程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数据闭环：SQLite建表、保存结果、历史查询与刷新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最终交付：文档、PPT、演示流程与验收检查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70432" y="5074920"/>
            <a:ext cx="73152" cy="420624"/>
          </a:xfrm>
          <a:prstGeom prst="rect">
            <a:avLst/>
          </a:prstGeom>
          <a:solidFill>
            <a:srgbClr val="C89B54"/>
          </a:solidFill>
          <a:ln w="12700">
            <a:solidFill>
              <a:srgbClr val="C89B5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99032" y="5093208"/>
            <a:ext cx="3794760" cy="42062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一句话总结：组长让项目从“几个模块”变成“一个能交付的产品”。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6446520" y="1261872"/>
            <a:ext cx="4434840" cy="4526280"/>
          </a:xfrm>
          <a:prstGeom prst="rect">
            <a:avLst/>
          </a:prstGeom>
          <a:solidFill>
            <a:srgbClr val="13212C"/>
          </a:solidFill>
          <a:ln w="10160">
            <a:solidFill>
              <a:srgbClr val="13212C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691640"/>
            <a:ext cx="310896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INTEGRATION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MATTERS</a:t>
            </a:r>
            <a:endParaRPr lang="en-US" sz="3100" dirty="0"/>
          </a:p>
        </p:txBody>
      </p:sp>
      <p:sp>
        <p:nvSpPr>
          <p:cNvPr id="26" name="Text 24"/>
          <p:cNvSpPr/>
          <p:nvPr/>
        </p:nvSpPr>
        <p:spPr>
          <a:xfrm>
            <a:off x="6839712" y="2788920"/>
            <a:ext cx="3429000" cy="7132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8E3E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模块开发只是开始，联调、容错、演示路径、材料收口才决定验收现场是否稳定。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39712" y="4160520"/>
            <a:ext cx="338328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A7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前端界面 × 推理接口 × 数据库 × 队列 × 验收材料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088" y="-17797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成员工作展示：各模块协同完成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868680" y="1417320"/>
            <a:ext cx="2377440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417320"/>
            <a:ext cx="2377440" cy="73152"/>
          </a:xfrm>
          <a:prstGeom prst="rect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1737360"/>
            <a:ext cx="1645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刘泽涛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069848" y="2121408"/>
            <a:ext cx="18288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5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组长 / 前端与整合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33471"/>
            <a:ext cx="1874520" cy="2743201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主界面搭建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接口联调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SQLite历史记录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2000" dirty="0" err="1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批量处理与交付</a:t>
            </a:r>
            <a:endParaRPr lang="en-US" sz="2000" dirty="0">
              <a:solidFill>
                <a:srgbClr val="5D687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en-US" altLang="zh-CN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•ppt</a:t>
            </a:r>
            <a:r>
              <a:rPr lang="zh-CN" altLang="en-US" sz="2000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制作与主讲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657600" y="1417320"/>
            <a:ext cx="2377440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1417320"/>
            <a:ext cx="2377440" cy="73152"/>
          </a:xfrm>
          <a:prstGeom prst="rect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58768" y="1737360"/>
            <a:ext cx="1645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王瑞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858768" y="2121408"/>
            <a:ext cx="18288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4A7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ONNX推理模块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58768" y="2633472"/>
            <a:ext cx="1874520" cy="268109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模型加载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Softmax概率转换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标签映射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置信度阈值判断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46520" y="1417320"/>
            <a:ext cx="2377440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1417320"/>
            <a:ext cx="2377440" cy="73152"/>
          </a:xfrm>
          <a:prstGeom prst="rect">
            <a:avLst/>
          </a:prstGeom>
          <a:solidFill>
            <a:srgbClr val="8AA06E"/>
          </a:solidFill>
          <a:ln w="12700">
            <a:solidFill>
              <a:srgbClr val="8AA0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1737360"/>
            <a:ext cx="1645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刘叙研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647688" y="2121408"/>
            <a:ext cx="18288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AA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OpenCV预处理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47688" y="2633472"/>
            <a:ext cx="1874520" cy="2743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图片读取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RGB转换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Resize 224×224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归一化与张量转换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235440" y="1417320"/>
            <a:ext cx="2377440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35440" y="1417320"/>
            <a:ext cx="2377440" cy="73152"/>
          </a:xfrm>
          <a:prstGeom prst="rect">
            <a:avLst/>
          </a:prstGeom>
          <a:solidFill>
            <a:srgbClr val="C89B54"/>
          </a:solidFill>
          <a:ln w="12700">
            <a:solidFill>
              <a:srgbClr val="C89B5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36608" y="1737360"/>
            <a:ext cx="1645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zh-CN" altLang="en-US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鄢</a:t>
            </a:r>
            <a:r>
              <a:rPr lang="en-US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烁欢</a:t>
            </a:r>
          </a:p>
        </p:txBody>
      </p:sp>
      <p:sp>
        <p:nvSpPr>
          <p:cNvPr id="36" name="Text 34"/>
          <p:cNvSpPr/>
          <p:nvPr/>
        </p:nvSpPr>
        <p:spPr>
          <a:xfrm>
            <a:off x="9436608" y="2121408"/>
            <a:ext cx="18288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9B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文档与测试材料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36608" y="2633472"/>
            <a:ext cx="1874520" cy="268109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用户手册整理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验收文档归档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测试记录补充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演示说明辅助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代码成果：职责清楚，接口明确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868680" y="1417320"/>
            <a:ext cx="5212080" cy="2834640"/>
          </a:xfrm>
          <a:prstGeom prst="rect">
            <a:avLst/>
          </a:prstGeom>
          <a:solidFill>
            <a:srgbClr val="13212C"/>
          </a:solidFill>
          <a:ln w="10160">
            <a:solidFill>
              <a:srgbClr val="13212C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1581912"/>
            <a:ext cx="4882896" cy="2505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D8E3E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config.py        # 模型路径、标签路径、输入尺寸、阈值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8E3E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im.py            # 图像读取、缩放、归一化、NCHW张量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8E3E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onnx_infer.py    # ONNX会话、Softmax、类别输出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8E3E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queue_image.py   # FIFO批量队列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8E3E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qianduan.py      # Tkinter界面、数据库、流程整合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8E3E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labels.txt       # ImageNet类别标签映射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1417320"/>
            <a:ext cx="4343400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1755648"/>
            <a:ext cx="1645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关键整合点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949440" y="2212848"/>
            <a:ext cx="3474720" cy="1783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GUI事件驱动识别流程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预处理输出适配模型输入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推理结果同步写入数据库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队列状态实时反馈到界面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历史查询返回可复查记录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96112" y="5440680"/>
            <a:ext cx="73152" cy="411480"/>
          </a:xfrm>
          <a:prstGeom prst="rect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5458968"/>
            <a:ext cx="964692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组长核心整合点：qianduan.py 将分散模块真正连接成用户可操作流程。</a:t>
            </a:r>
            <a:endParaRPr lang="en-US" sz="16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项目完成情况：形成可验收的完整闭环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0120" y="1463040"/>
            <a:ext cx="29260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5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98448" y="1499616"/>
            <a:ext cx="137160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单图识别可演示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3017520" y="1463040"/>
            <a:ext cx="29260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4A7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55848" y="1499616"/>
            <a:ext cx="137160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批量队列可演示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074920" y="1463040"/>
            <a:ext cx="29260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8AA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13248" y="1499616"/>
            <a:ext cx="137160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历史记录可查询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132320" y="1463040"/>
            <a:ext cx="29260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89B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70648" y="1499616"/>
            <a:ext cx="137160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模块结构清晰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9189720" y="1463040"/>
            <a:ext cx="29260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93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28048" y="1499616"/>
            <a:ext cx="137160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验收材料完整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868680" y="2331720"/>
            <a:ext cx="4663440" cy="2514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2651760"/>
            <a:ext cx="13716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技术收获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43000" y="3154680"/>
            <a:ext cx="3749040" cy="11887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理解AI模型部署链路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熟悉图像预处理与张量转换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掌握GUI事件与推理接口联调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实践SQLite数据持久化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2331720"/>
            <a:ext cx="4663440" cy="2514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651760"/>
            <a:ext cx="13716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工程收获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446520" y="3154680"/>
            <a:ext cx="3749040" cy="11887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模块分工需要统一接口约定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最终集成比单点开发更考验耐心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演示流程需要提前设计与彩排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组长统筹能显著降低项目风险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14400" y="5715000"/>
            <a:ext cx="73152" cy="457200"/>
          </a:xfrm>
          <a:prstGeom prst="rect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733288"/>
            <a:ext cx="955548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最终成果不是零散代码，而是“可运行系统 + 可展示流程 + 可验收材料”。</a:t>
            </a:r>
            <a:endParaRPr lang="en-US" sz="16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"/>
            <a:ext cx="0" cy="5989320"/>
          </a:xfrm>
          <a:prstGeom prst="line">
            <a:avLst/>
          </a:prstGeom>
          <a:noFill/>
          <a:ln w="4445">
            <a:solidFill>
              <a:srgbClr val="D5D0C7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64465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IMAGE RECOGNITION · ONNX RUNTIME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115568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D68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B7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512064"/>
            <a:ext cx="640080" cy="0"/>
          </a:xfrm>
          <a:prstGeom prst="line">
            <a:avLst/>
          </a:prstGeom>
          <a:noFill/>
          <a:ln w="15240">
            <a:solidFill>
              <a:srgbClr val="2D5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6032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不足与展望：从“能用”走向“更好用”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868680" y="1325880"/>
            <a:ext cx="4663440" cy="3886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325880"/>
            <a:ext cx="73152" cy="3886200"/>
          </a:xfrm>
          <a:prstGeom prst="rect">
            <a:avLst/>
          </a:prstGeom>
          <a:solidFill>
            <a:srgbClr val="A64B3C"/>
          </a:solidFill>
          <a:ln w="12700">
            <a:solidFill>
              <a:srgbClr val="A64B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1627632"/>
            <a:ext cx="13716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当前不足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2148840"/>
            <a:ext cx="3657600" cy="1691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界面仍偏基础，视觉效果和交互细节可提升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模型类别较通用，对专业场景识别能力有限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批量处理目前顺序执行，大规模效率可优化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异常提示和日志系统仍可进一步完善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72200" y="1325880"/>
            <a:ext cx="4663440" cy="3886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0C7">
                <a:alpha val="8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325880"/>
            <a:ext cx="73152" cy="3886200"/>
          </a:xfrm>
          <a:prstGeom prst="rect">
            <a:avLst/>
          </a:prstGeom>
          <a:solidFill>
            <a:srgbClr val="8AA06E"/>
          </a:solidFill>
          <a:ln w="12700">
            <a:solidFill>
              <a:srgbClr val="8AA06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627632"/>
            <a:ext cx="13716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后续展望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46520" y="2148840"/>
            <a:ext cx="3657600" cy="1691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升级界面：更清晰布局、进度条与结果卡片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升级模型：替换更高精度或垂直领域模型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升级性能：加入多线程或异步队列，避免卡顿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5D68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升级数据：导出Excel/CSV，支持统计图和报表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14400" y="5724144"/>
            <a:ext cx="73152" cy="457200"/>
          </a:xfrm>
          <a:prstGeom prst="rect">
            <a:avLst/>
          </a:prstGeom>
          <a:solidFill>
            <a:srgbClr val="2D5B73"/>
          </a:solidFill>
          <a:ln w="12700">
            <a:solidFill>
              <a:srgbClr val="2D5B7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742432"/>
            <a:ext cx="964692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8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未来定位：轻量桌面AI识别工具 → 可扩展的图像识别管理平台。</a:t>
            </a:r>
            <a:endParaRPr lang="en-US" sz="16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13232" y="749808"/>
            <a:ext cx="73152" cy="5349240"/>
          </a:xfrm>
          <a:prstGeom prst="rect">
            <a:avLst/>
          </a:prstGeom>
          <a:solidFill>
            <a:srgbClr val="74A7A0"/>
          </a:solidFill>
          <a:ln w="12700">
            <a:solidFill>
              <a:srgbClr val="74A7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14400"/>
            <a:ext cx="329184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C8D2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1828800"/>
            <a:ext cx="301752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谢谢聆听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50976" y="2587752"/>
            <a:ext cx="292608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6E1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欢迎老师批评指正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794760"/>
            <a:ext cx="301752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8D2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项目组长：刘泽涛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8D2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项目：AI图片识别工具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2103120"/>
            <a:ext cx="265176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537960" y="3063240"/>
            <a:ext cx="374904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1291</Words>
  <Application>Microsoft Office PowerPoint</Application>
  <PresentationFormat>宽屏</PresentationFormat>
  <Paragraphs>343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微软雅黑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武汉凡诺软件技术有限公司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AI图片识别工具答辩PPT优化版</dc:title>
  <dc:subject>AI图片识别工具答辩PPT优化版</dc:subject>
  <dc:creator>刘泽涛项目组</dc:creator>
  <cp:lastModifiedBy>shen liu</cp:lastModifiedBy>
  <cp:revision>6</cp:revision>
  <dcterms:created xsi:type="dcterms:W3CDTF">2026-07-14T01:29:00Z</dcterms:created>
  <dcterms:modified xsi:type="dcterms:W3CDTF">2026-07-14T06:48:26Z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3A631F982B394F77B580421CF82136E8_13</vt:lpwstr>
  </property>
</Properties>
</file>